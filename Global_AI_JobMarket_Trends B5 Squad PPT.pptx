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953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80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"/>
            <a:ext cx="22860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upGrad Inter-LC Hackathon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56692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FFFFF"/>
                </a:solidFill>
              </a:rPr>
              <a:t>GLOBAL AI JOB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22D3EE"/>
                </a:solidFill>
              </a:rPr>
              <a:t>MARKET TRENDS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</a:rPr>
              <a:t>Answering 3 critical questions with 71,624 deduplicated AI job listings · 92 countries · 2022–2025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</a:rPr>
              <a:t>THE 3 QUESTIONS WE WERE ASKED TO ANSWER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3" y="2670048"/>
            <a:ext cx="2724912" cy="1920240"/>
          </a:xfrm>
          <a:prstGeom prst="rect">
            <a:avLst/>
          </a:prstGeom>
          <a:solidFill>
            <a:srgbClr val="0C2340"/>
          </a:solidFill>
          <a:ln w="2540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670048"/>
            <a:ext cx="272491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" y="2770632"/>
            <a:ext cx="347472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77063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33272" y="274320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Which AI-related skills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are most in demand?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" y="3090672"/>
            <a:ext cx="2487168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12648" y="314553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</a:rPr>
              <a:t>Our Answer: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2648" y="3465576"/>
            <a:ext cx="2487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Priced via salary premium — $71,580 gap between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ML Engineering and Analytics tells you everything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55848" y="2670048"/>
            <a:ext cx="2724912" cy="1920240"/>
          </a:xfrm>
          <a:prstGeom prst="rect">
            <a:avLst/>
          </a:prstGeom>
          <a:solidFill>
            <a:srgbClr val="0C2340"/>
          </a:solidFill>
          <a:ln w="2540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55848" y="2670048"/>
            <a:ext cx="272491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65576" y="2770632"/>
            <a:ext cx="347472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65576" y="277063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86200" y="274320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Which regions have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fastest AI job growth?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65576" y="3090672"/>
            <a:ext cx="2487168" cy="0"/>
          </a:xfrm>
          <a:prstGeom prst="line">
            <a:avLst/>
          </a:prstGeom>
          <a:noFill/>
          <a:ln w="6350">
            <a:solidFill>
              <a:srgbClr val="059669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465576" y="314553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Our Answer: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65576" y="3310127"/>
            <a:ext cx="2487168" cy="741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Canada +7,456% · Australia +2,910%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UK +1,717% · US +3,701%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08776" y="2670048"/>
            <a:ext cx="2724912" cy="1920240"/>
          </a:xfrm>
          <a:prstGeom prst="rect">
            <a:avLst/>
          </a:prstGeom>
          <a:solidFill>
            <a:srgbClr val="0C2340"/>
          </a:solidFill>
          <a:ln w="25400">
            <a:solidFill>
              <a:srgbClr val="D9770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08776" y="2670048"/>
            <a:ext cx="2724912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18504" y="2770632"/>
            <a:ext cx="347472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277063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39128" y="274320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Which industries adopt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</a:rPr>
              <a:t>AI most rapidly?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18504" y="3090672"/>
            <a:ext cx="2487168" cy="0"/>
          </a:xfrm>
          <a:prstGeom prst="line">
            <a:avLst/>
          </a:prstGeom>
          <a:noFill/>
          <a:ln w="6350">
            <a:solidFill>
              <a:srgbClr val="D97706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318504" y="314553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Our Answer: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18504" y="3310128"/>
            <a:ext cx="2487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Medium growth-stage companies (50-250 employees)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97.8% of all AI listings · +4,137% since 2022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08791" y="4709160"/>
            <a:ext cx="1554480" cy="274320"/>
          </a:xfrm>
          <a:prstGeom prst="rect">
            <a:avLst/>
          </a:prstGeom>
          <a:solidFill>
            <a:srgbClr val="0A1E35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74320" y="47274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71,624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" y="47274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Clean Records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118902" y="4709160"/>
            <a:ext cx="1554480" cy="274320"/>
          </a:xfrm>
          <a:prstGeom prst="rect">
            <a:avLst/>
          </a:prstGeom>
          <a:solidFill>
            <a:srgbClr val="0A1E35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993392" y="47274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92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770632" y="47274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Countries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811071" y="4709160"/>
            <a:ext cx="1554480" cy="274320"/>
          </a:xfrm>
          <a:prstGeom prst="rect">
            <a:avLst/>
          </a:prstGeom>
          <a:solidFill>
            <a:srgbClr val="0A1E35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712464" y="47274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418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489704" y="47274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Job Titles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513832" y="4709160"/>
            <a:ext cx="1554480" cy="274320"/>
          </a:xfrm>
          <a:prstGeom prst="rect">
            <a:avLst/>
          </a:prstGeom>
          <a:solidFill>
            <a:srgbClr val="0A1E35"/>
          </a:solidFill>
          <a:ln w="12700">
            <a:solidFill>
              <a:srgbClr val="22D3E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513832" y="4727448"/>
            <a:ext cx="886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</a:rPr>
              <a:t>2022–2025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55664" y="472744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Date Range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269480" y="4700016"/>
            <a:ext cx="1554480" cy="274320"/>
          </a:xfrm>
          <a:prstGeom prst="rect">
            <a:avLst/>
          </a:prstGeom>
          <a:solidFill>
            <a:srgbClr val="0A1E35"/>
          </a:solidFill>
          <a:ln w="127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150608" y="47274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3.3×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927848" y="47274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2025 Accel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Understanding &amp; Cleaning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D3EE"/>
                </a:solidFill>
              </a:rPr>
              <a:t>Raw data had systematic bias — cleaning reversed one major finding completely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2724912" cy="1170432"/>
          </a:xfrm>
          <a:prstGeom prst="rect">
            <a:avLst/>
          </a:prstGeom>
          <a:solidFill>
            <a:srgbClr val="0C2340"/>
          </a:solidFill>
          <a:ln w="254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841248"/>
            <a:ext cx="2724912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</a:rPr>
              <a:t>79,532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31673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Exact Duplicates Removed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499616"/>
            <a:ext cx="272491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Same listing from 3 platforms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52.5% of raw 151,445 rows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55848" y="841248"/>
            <a:ext cx="2724912" cy="1170432"/>
          </a:xfrm>
          <a:prstGeom prst="rect">
            <a:avLst/>
          </a:prstGeom>
          <a:solidFill>
            <a:srgbClr val="0C2340"/>
          </a:solidFill>
          <a:ln w="254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841248"/>
            <a:ext cx="2724912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914400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</a:rPr>
              <a:t>289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55848" y="131673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COVID Rows Excluded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55848" y="1499616"/>
            <a:ext cx="272491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2020-21 pandemic hiring freeze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excludes abnormal market data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08776" y="841248"/>
            <a:ext cx="2724912" cy="1170432"/>
          </a:xfrm>
          <a:prstGeom prst="rect">
            <a:avLst/>
          </a:prstGeom>
          <a:solidFill>
            <a:srgbClr val="0C2340"/>
          </a:solidFill>
          <a:ln w="254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841248"/>
            <a:ext cx="272491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914400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</a:rPr>
              <a:t>71,624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08776" y="131673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Clean Rows Remaining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08776" y="1499616"/>
            <a:ext cx="272491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Zero nulls · Zero duplicates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All unique — ready for analysis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2139696"/>
            <a:ext cx="2651760" cy="2606040"/>
          </a:xfrm>
          <a:prstGeom prst="rect">
            <a:avLst/>
          </a:prstGeom>
          <a:solidFill>
            <a:srgbClr val="0C2340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2139696"/>
            <a:ext cx="45720" cy="2606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17627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2D3EE"/>
                </a:solidFill>
              </a:rPr>
              <a:t>11 ORIGINAL COLUMNS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244144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work_year  </a:t>
            </a:r>
            <a:r>
              <a:rPr lang="en-US" sz="850" dirty="0">
                <a:solidFill>
                  <a:srgbClr val="CBD5E1"/>
                </a:solidFill>
              </a:rPr>
              <a:t>2022-2025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" y="269748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experience_level  </a:t>
            </a:r>
            <a:r>
              <a:rPr lang="en-US" sz="850" dirty="0">
                <a:solidFill>
                  <a:srgbClr val="CBD5E1"/>
                </a:solidFill>
              </a:rPr>
              <a:t>EN/MI/SE/EX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" y="295351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job_title  </a:t>
            </a:r>
            <a:r>
              <a:rPr lang="en-US" sz="850" dirty="0">
                <a:solidFill>
                  <a:srgbClr val="CBD5E1"/>
                </a:solidFill>
              </a:rPr>
              <a:t>418 unique titles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" y="320954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salary_in_usd  </a:t>
            </a:r>
            <a:r>
              <a:rPr lang="en-US" sz="850" dirty="0">
                <a:solidFill>
                  <a:srgbClr val="CBD5E1"/>
                </a:solidFill>
              </a:rPr>
              <a:t>THE key metric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" y="346557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company_location  </a:t>
            </a:r>
            <a:r>
              <a:rPr lang="en-US" sz="850" dirty="0">
                <a:solidFill>
                  <a:srgbClr val="CBD5E1"/>
                </a:solidFill>
              </a:rPr>
              <a:t>Geography analysis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0080" y="372160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employee_residence  </a:t>
            </a:r>
            <a:r>
              <a:rPr lang="en-US" sz="850" dirty="0">
                <a:solidFill>
                  <a:srgbClr val="CBD5E1"/>
                </a:solidFill>
              </a:rPr>
              <a:t>Where worker lives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0080" y="397764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remote_ratio  </a:t>
            </a:r>
            <a:r>
              <a:rPr lang="en-US" sz="850" dirty="0">
                <a:solidFill>
                  <a:srgbClr val="CBD5E1"/>
                </a:solidFill>
              </a:rPr>
              <a:t>0/50/100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0080" y="423367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company_size  </a:t>
            </a:r>
            <a:r>
              <a:rPr lang="en-US" sz="850" dirty="0">
                <a:solidFill>
                  <a:srgbClr val="CBD5E1"/>
                </a:solidFill>
              </a:rPr>
              <a:t>S/M/L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" y="448970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employment_type  </a:t>
            </a:r>
            <a:r>
              <a:rPr lang="en-US" sz="850" dirty="0">
                <a:solidFill>
                  <a:srgbClr val="CBD5E1"/>
                </a:solidFill>
              </a:rPr>
              <a:t>FT/PT/CT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91840" y="2139696"/>
            <a:ext cx="2761488" cy="2606040"/>
          </a:xfrm>
          <a:prstGeom prst="rect">
            <a:avLst/>
          </a:prstGeom>
          <a:solidFill>
            <a:srgbClr val="0C2340"/>
          </a:solidFill>
          <a:ln w="2540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139696"/>
            <a:ext cx="45720" cy="2606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217627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87171"/>
                </a:solidFill>
              </a:rPr>
              <a:t>THE CLEANING REVERSAL  ⚡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01568" y="2468880"/>
            <a:ext cx="2542032" cy="438912"/>
          </a:xfrm>
          <a:prstGeom prst="rect">
            <a:avLst/>
          </a:prstGeom>
          <a:solidFill>
            <a:srgbClr val="1A0A0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247802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7171"/>
                </a:solidFill>
              </a:rPr>
              <a:t>BEFORE CLEANING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01568" y="263347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Large pays $3,771 MORE than Medium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01568" y="2962656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D97706"/>
                </a:solidFill>
              </a:rPr>
              <a:t>↓  remove 79,532 duplicates  ↓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01568" y="3182112"/>
            <a:ext cx="2542032" cy="438912"/>
          </a:xfrm>
          <a:prstGeom prst="rect">
            <a:avLst/>
          </a:prstGeom>
          <a:solidFill>
            <a:srgbClr val="0A1A0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1568" y="3191256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DE80"/>
                </a:solidFill>
              </a:rPr>
              <a:t>AFTER CLEANING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01568" y="334670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Medium pays $10,829 MORE than Large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01568" y="367588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$14,600 swing — duplicates were systematically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biased toward large-company US listings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401568" y="407822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This changed our biggest recommendation.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72200" y="2139696"/>
            <a:ext cx="2724912" cy="2606040"/>
          </a:xfrm>
          <a:prstGeom prst="rect">
            <a:avLst/>
          </a:prstGeom>
          <a:solidFill>
            <a:srgbClr val="0C2340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72200" y="2139696"/>
            <a:ext cx="45720" cy="2606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2176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ADE80"/>
                </a:solidFill>
              </a:rPr>
              <a:t>7 COLUMNS WE BUILT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09360" y="24414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▸ </a:t>
            </a:r>
            <a:r>
              <a:rPr lang="en-US" sz="850" b="1" dirty="0">
                <a:solidFill>
                  <a:srgbClr val="FFFFFF"/>
                </a:solidFill>
              </a:rPr>
              <a:t>Category  </a:t>
            </a:r>
            <a:r>
              <a:rPr lang="en-US" sz="850" dirty="0">
                <a:solidFill>
                  <a:srgbClr val="CBD5E1"/>
                </a:solidFill>
              </a:rPr>
              <a:t>9 tiers from job title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09360" y="2770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▸ </a:t>
            </a:r>
            <a:r>
              <a:rPr lang="en-US" sz="850" b="1" dirty="0">
                <a:solidFill>
                  <a:srgbClr val="FFFFFF"/>
                </a:solidFill>
              </a:rPr>
              <a:t>Experience_Label  </a:t>
            </a:r>
            <a:r>
              <a:rPr lang="en-US" sz="850" dirty="0">
                <a:solidFill>
                  <a:srgbClr val="CBD5E1"/>
                </a:solidFill>
              </a:rPr>
              <a:t>EN→Entry, MI→Mid…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09360" y="30998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▸ </a:t>
            </a:r>
            <a:r>
              <a:rPr lang="en-US" sz="850" b="1" dirty="0">
                <a:solidFill>
                  <a:srgbClr val="FFFFFF"/>
                </a:solidFill>
              </a:rPr>
              <a:t>Work_Mode  </a:t>
            </a:r>
            <a:r>
              <a:rPr lang="en-US" sz="850" dirty="0">
                <a:solidFill>
                  <a:srgbClr val="CBD5E1"/>
                </a:solidFill>
              </a:rPr>
              <a:t>0/50/100→label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309360" y="3429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▸ </a:t>
            </a:r>
            <a:r>
              <a:rPr lang="en-US" sz="850" b="1" dirty="0">
                <a:solidFill>
                  <a:srgbClr val="FFFFFF"/>
                </a:solidFill>
              </a:rPr>
              <a:t>Company_Size_Label  </a:t>
            </a:r>
            <a:r>
              <a:rPr lang="en-US" sz="850" dirty="0">
                <a:solidFill>
                  <a:srgbClr val="CBD5E1"/>
                </a:solidFill>
              </a:rPr>
              <a:t>S/M/L→readable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09360" y="37581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▸ </a:t>
            </a:r>
            <a:r>
              <a:rPr lang="en-US" sz="850" b="1" dirty="0">
                <a:solidFill>
                  <a:srgbClr val="FFFFFF"/>
                </a:solidFill>
              </a:rPr>
              <a:t>Year_Label  </a:t>
            </a:r>
            <a:r>
              <a:rPr lang="en-US" sz="850" dirty="0">
                <a:solidFill>
                  <a:srgbClr val="CBD5E1"/>
                </a:solidFill>
              </a:rPr>
              <a:t>2025 marked Partial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09360" y="40873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▸ </a:t>
            </a:r>
            <a:r>
              <a:rPr lang="en-US" sz="850" b="1" dirty="0">
                <a:solidFill>
                  <a:srgbClr val="FFFFFF"/>
                </a:solidFill>
              </a:rPr>
              <a:t>Salary_Band  </a:t>
            </a:r>
            <a:r>
              <a:rPr lang="en-US" sz="850" dirty="0">
                <a:solidFill>
                  <a:srgbClr val="CBD5E1"/>
                </a:solidFill>
              </a:rPr>
              <a:t>6 USD brackets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309360" y="44165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▸ </a:t>
            </a:r>
            <a:r>
              <a:rPr lang="en-US" sz="850" b="1" dirty="0">
                <a:solidFill>
                  <a:srgbClr val="FFFFFF"/>
                </a:solidFill>
              </a:rPr>
              <a:t>Country_Name  </a:t>
            </a:r>
            <a:r>
              <a:rPr lang="en-US" sz="850" dirty="0">
                <a:solidFill>
                  <a:srgbClr val="CBD5E1"/>
                </a:solidFill>
              </a:rPr>
              <a:t>code→full name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800600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Source: ai-jobs.net · Payscale · ZipRecruiter  |  Raw: 151,445 rows  →  Clean: 71,624 rows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-4393"/>
            <a:ext cx="914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85632" y="12801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Findings From 71,624 Clean Records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AE6FD"/>
                </a:solidFill>
              </a:rPr>
              <a:t>Every number verified. Every finding tested against the raw dataset.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960120"/>
            <a:ext cx="4297680" cy="1810512"/>
          </a:xfrm>
          <a:prstGeom prst="rect">
            <a:avLst/>
          </a:prstGeom>
          <a:solidFill>
            <a:srgbClr val="0F2236"/>
          </a:solidFill>
          <a:ln w="254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960120"/>
            <a:ext cx="91440" cy="18105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02412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04241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Hiring Still Accelerating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3716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2960" y="182880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YoY growth in 2024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3192" y="2048256"/>
            <a:ext cx="4041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1,114 (2022) → 38,282 (2025). Monthly 2025: 7,656/month = 3.3× all of 2024. Projected full year: 77K–92K listings.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90872" y="960120"/>
            <a:ext cx="4297680" cy="1810512"/>
          </a:xfrm>
          <a:prstGeom prst="rect">
            <a:avLst/>
          </a:prstGeom>
          <a:solidFill>
            <a:srgbClr val="0F2236"/>
          </a:solidFill>
          <a:ln w="254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90872" y="960120"/>
            <a:ext cx="91440" cy="18105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102412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85232" y="104241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Engineer — +1,624% in 2 Years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85232" y="13716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$164,828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285232" y="182880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average salary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55464" y="2048256"/>
            <a:ext cx="4041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45 listings (2023) → 776 (2025). Pays $49K/yr more than Analytics. Role born after ChatGPT Nov 2022.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2880360"/>
            <a:ext cx="2834640" cy="2057400"/>
          </a:xfrm>
          <a:prstGeom prst="rect">
            <a:avLst/>
          </a:prstGeom>
          <a:solidFill>
            <a:srgbClr val="0F2236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880360"/>
            <a:ext cx="91440" cy="205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94436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296265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Medium Pays MORE Than Large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3337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+$10,829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65760" y="382219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per year vs Large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3192" y="404164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Medium $151,715 vs Large $140,887. Medium holds 97.8% of all AI jobs. Reversed after removing 79,532 duplicates.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2880360"/>
            <a:ext cx="2834640" cy="2057400"/>
          </a:xfrm>
          <a:prstGeom prst="rect">
            <a:avLst/>
          </a:prstGeom>
          <a:solidFill>
            <a:srgbClr val="0F2236"/>
          </a:solidFill>
          <a:ln w="254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2880360"/>
            <a:ext cx="91440" cy="20574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7560" y="2944368"/>
            <a:ext cx="384048" cy="38404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94760" y="296265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Remote Stabilised at ~23%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337560" y="3337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55%→23%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3337560" y="382219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2022 to 2025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64992" y="404164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Reversal happened in one year (2022→2023). Stable since 2024. Onsite premium only $2,446/yr.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2880360"/>
            <a:ext cx="2834640" cy="2057400"/>
          </a:xfrm>
          <a:prstGeom prst="rect">
            <a:avLst/>
          </a:prstGeom>
          <a:solidFill>
            <a:srgbClr val="0F2236"/>
          </a:solidFill>
          <a:ln w="254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2880360"/>
            <a:ext cx="91440" cy="2057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2944368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66560" y="296265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Entry Level Grew Fastest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09360" y="3337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+34.8%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6309360" y="382219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salary growth 2022–25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36792" y="404164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$72K→$97K. Entry→Mid: +$38,220/yr — biggest single career move. Senior only +12.4%.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92919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118872"/>
            <a:ext cx="8668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All 3 Questions Answered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D3EE"/>
                </a:solidFill>
              </a:rPr>
              <a:t>Every number verified from 71,624 clean, deduplicated records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786384"/>
            <a:ext cx="4114800" cy="2441448"/>
          </a:xfrm>
          <a:prstGeom prst="rect">
            <a:avLst/>
          </a:prstGeom>
          <a:solidFill>
            <a:srgbClr val="0C2340"/>
          </a:solidFill>
          <a:ln w="2540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786384"/>
            <a:ext cx="41148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" y="868680"/>
            <a:ext cx="347472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8686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67512" y="86868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Which AI Skills Are Most In Demand?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6888" y="1133856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2D3EE"/>
                </a:solidFill>
              </a:rPr>
              <a:t>SALARY = THE MARKET'S PRICE TAG FOR EACH SKILL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6888" y="135331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ML / Model Deploy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44752" y="1389888"/>
            <a:ext cx="2011680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3533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</a:rPr>
              <a:t>$187K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6888" y="16459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AI Engineering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444752" y="1682496"/>
            <a:ext cx="1770278" cy="1645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3318" y="16459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</a:rPr>
              <a:t>$165K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6888" y="19385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Core AI / LLMs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444752" y="1975104"/>
            <a:ext cx="1790395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3435" y="19385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</a:rPr>
              <a:t>$167K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6888" y="22311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Data Engineering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444752" y="2267712"/>
            <a:ext cx="1548994" cy="1645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2034" y="22311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</a:rPr>
              <a:t>$145K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46888" y="252374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Analytics &amp; BI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44752" y="2560320"/>
            <a:ext cx="1247242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10282" y="25237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$116K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6888" y="2779776"/>
            <a:ext cx="384048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46888" y="2816352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97706"/>
                </a:solidFill>
              </a:rPr>
              <a:t>$71,580/yr gap: ML/Deploy vs Analytics = market pricing skills, not opinions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888" y="2843784"/>
            <a:ext cx="3913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</a:rPr>
              <a:t>Build: </a:t>
            </a:r>
            <a:r>
              <a:rPr lang="en-US" sz="850" dirty="0">
                <a:solidFill>
                  <a:srgbClr val="FFFFFF"/>
                </a:solidFill>
              </a:rPr>
              <a:t>PyTorch · LLMs · Model Deployment  </a:t>
            </a:r>
            <a:r>
              <a:rPr lang="en-US" sz="850" b="1" dirty="0">
                <a:solidFill>
                  <a:srgbClr val="22D3EE"/>
                </a:solidFill>
              </a:rPr>
              <a:t>→ $187K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46888" y="2907792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Scale: </a:t>
            </a:r>
            <a:r>
              <a:rPr lang="en-US" sz="850" dirty="0">
                <a:solidFill>
                  <a:srgbClr val="FFFFFF"/>
                </a:solidFill>
              </a:rPr>
              <a:t>MLOps · Spark · Cloud Infrastructure  </a:t>
            </a:r>
            <a:r>
              <a:rPr lang="en-US" sz="850" b="1" dirty="0">
                <a:solidFill>
                  <a:srgbClr val="059669"/>
                </a:solidFill>
              </a:rPr>
              <a:t>→ $145K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07408" y="786384"/>
            <a:ext cx="4553712" cy="2441448"/>
          </a:xfrm>
          <a:prstGeom prst="rect">
            <a:avLst/>
          </a:prstGeom>
          <a:solidFill>
            <a:srgbClr val="0C2340"/>
          </a:solidFill>
          <a:ln w="2540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07408" y="786384"/>
            <a:ext cx="455371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17136" y="868680"/>
            <a:ext cx="347472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7136" y="8686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37760" y="86868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Which Regions Have Fastest AI Job Growth?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17136" y="11338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ADE80"/>
                </a:solidFill>
              </a:rPr>
              <a:t>GROWTH 2022→2025  (min. 10 listings base)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17136" y="135331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Canada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77840" y="1389888"/>
            <a:ext cx="201168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135331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+7,456%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040880" y="1353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bg1"/>
                </a:solidFill>
              </a:rPr>
              <a:t>36→2,720</a:t>
            </a:r>
          </a:p>
        </p:txBody>
      </p:sp>
      <p:sp>
        <p:nvSpPr>
          <p:cNvPr id="41" name="Text 39"/>
          <p:cNvSpPr/>
          <p:nvPr/>
        </p:nvSpPr>
        <p:spPr>
          <a:xfrm>
            <a:off x="4517136" y="164592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Australia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577840" y="1682496"/>
            <a:ext cx="784555" cy="1645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8115" y="164592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</a:rPr>
              <a:t>+2,910%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040880" y="1645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bg1"/>
                </a:solidFill>
              </a:rPr>
              <a:t>10→301</a:t>
            </a:r>
          </a:p>
        </p:txBody>
      </p:sp>
      <p:sp>
        <p:nvSpPr>
          <p:cNvPr id="45" name="Text 43"/>
          <p:cNvSpPr/>
          <p:nvPr/>
        </p:nvSpPr>
        <p:spPr>
          <a:xfrm>
            <a:off x="4517136" y="193852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UK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577840" y="1975104"/>
            <a:ext cx="462686" cy="1645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6246" y="19385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EE7B7"/>
                </a:solidFill>
              </a:rPr>
              <a:t>+1,717%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040880" y="19385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bg1"/>
                </a:solidFill>
              </a:rPr>
              <a:t>77→1,399</a:t>
            </a:r>
          </a:p>
        </p:txBody>
      </p:sp>
      <p:sp>
        <p:nvSpPr>
          <p:cNvPr id="49" name="Text 47"/>
          <p:cNvSpPr/>
          <p:nvPr/>
        </p:nvSpPr>
        <p:spPr>
          <a:xfrm>
            <a:off x="4517136" y="2231136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United States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577840" y="2267712"/>
            <a:ext cx="1005840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9400" y="223113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</a:rPr>
              <a:t>+3,701%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150608" y="2231136"/>
            <a:ext cx="980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bg1"/>
                </a:solidFill>
              </a:rPr>
              <a:t>837→31,816</a:t>
            </a:r>
          </a:p>
        </p:txBody>
      </p:sp>
      <p:sp>
        <p:nvSpPr>
          <p:cNvPr id="53" name="Text 51"/>
          <p:cNvSpPr/>
          <p:nvPr/>
        </p:nvSpPr>
        <p:spPr>
          <a:xfrm>
            <a:off x="4517136" y="252374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Germany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577840" y="2560320"/>
            <a:ext cx="261518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85078" y="252374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+953%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040880" y="25237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bg1"/>
                </a:solidFill>
              </a:rPr>
              <a:t>19→200</a:t>
            </a:r>
          </a:p>
        </p:txBody>
      </p:sp>
      <p:sp>
        <p:nvSpPr>
          <p:cNvPr id="57" name="Shape 55"/>
          <p:cNvSpPr/>
          <p:nvPr/>
        </p:nvSpPr>
        <p:spPr>
          <a:xfrm>
            <a:off x="4517136" y="2779776"/>
            <a:ext cx="4206240" cy="0"/>
          </a:xfrm>
          <a:prstGeom prst="line">
            <a:avLst/>
          </a:prstGeom>
          <a:noFill/>
          <a:ln w="6350">
            <a:solidFill>
              <a:srgbClr val="059669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4517136" y="2816352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97706"/>
                </a:solidFill>
              </a:rPr>
              <a:t>US=83.8% of listings but Canada &amp; Australia show fastest emerging growth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17136" y="2926080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Canada </a:t>
            </a:r>
            <a:r>
              <a:rPr lang="en-US" sz="850" dirty="0">
                <a:solidFill>
                  <a:srgbClr val="CBD5E1"/>
                </a:solidFill>
              </a:rPr>
              <a:t>is the top pick: English · strong universities · below-US salaries · fastest growing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517136" y="30083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</a:rPr>
              <a:t>2025 monthly rate: </a:t>
            </a:r>
            <a:r>
              <a:rPr lang="en-US" sz="850" dirty="0">
                <a:solidFill>
                  <a:srgbClr val="CBD5E1"/>
                </a:solidFill>
              </a:rPr>
              <a:t>7,656 listings/month (3.3× faster than 2024)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37160" y="3328416"/>
            <a:ext cx="8823960" cy="1627632"/>
          </a:xfrm>
          <a:prstGeom prst="rect">
            <a:avLst/>
          </a:prstGeom>
          <a:solidFill>
            <a:srgbClr val="0C2340"/>
          </a:solidFill>
          <a:ln w="25400">
            <a:solidFill>
              <a:srgbClr val="D9770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37160" y="3328416"/>
            <a:ext cx="88239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46888" y="3410712"/>
            <a:ext cx="347472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6888" y="34107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Q3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67512" y="34107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Which Industries Adopt AI Most Rapidly?  (Inferred from company size as adoption proxy)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46888" y="3694176"/>
            <a:ext cx="2743200" cy="1188720"/>
          </a:xfrm>
          <a:prstGeom prst="rect">
            <a:avLst/>
          </a:prstGeom>
          <a:solidFill>
            <a:srgbClr val="0A1E3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6616" y="3730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891B2"/>
                </a:solidFill>
              </a:rPr>
              <a:t>Medium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891B2"/>
                </a:solidFill>
              </a:rPr>
              <a:t>(50-250 staff)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1298448" y="37307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91B2"/>
                </a:solidFill>
              </a:rPr>
              <a:t>97.8% of all listings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56616" y="4078224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+4,137% growth · $151,715 avg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56616" y="426110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Growth-stage tech firms — building AI from ground up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Fintech, Health-Tech, EdTech, SaaS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172968" y="3694176"/>
            <a:ext cx="2743200" cy="1188720"/>
          </a:xfrm>
          <a:prstGeom prst="rect">
            <a:avLst/>
          </a:prstGeom>
          <a:solidFill>
            <a:srgbClr val="0A1E3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82696" y="3730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BD5E1"/>
                </a:solidFill>
              </a:rPr>
              <a:t>Large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BD5E1"/>
                </a:solidFill>
              </a:rPr>
              <a:t>(250+ staff)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224528" y="37307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BD5E1"/>
                </a:solidFill>
              </a:rPr>
              <a:t>0.7% of all listings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3282696" y="4078224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+179% growth · $140,887 avg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282696" y="426110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Established enterprises — slower AI adoption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Big Tech, Banking, Manufacturing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099048" y="3694176"/>
            <a:ext cx="2743200" cy="1188720"/>
          </a:xfrm>
          <a:prstGeom prst="rect">
            <a:avLst/>
          </a:prstGeom>
          <a:solidFill>
            <a:srgbClr val="0A1E3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08776" y="3730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475569"/>
                </a:solidFill>
              </a:rPr>
              <a:t>Small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475569"/>
                </a:solidFill>
              </a:rPr>
              <a:t>(&lt;50 staff)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150608" y="37307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75569"/>
                </a:solidFill>
              </a:rPr>
              <a:t>0.01% of all listings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208776" y="4078224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−80% growth · $88,891 avg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208776" y="426110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Startups losing ground — cannot compete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on AI talent salaries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Career Pathway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D3EE"/>
                </a:solidFill>
              </a:rPr>
              <a:t>Go beyond analysis — show decision-making and impact  |  Every recommendation is traceable to a specific number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21208" y="822960"/>
            <a:ext cx="8366760" cy="1298448"/>
          </a:xfrm>
          <a:prstGeom prst="rect">
            <a:avLst/>
          </a:prstGeom>
          <a:solidFill>
            <a:srgbClr val="0C2340"/>
          </a:solidFill>
          <a:ln w="1905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822960"/>
            <a:ext cx="45720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914400"/>
            <a:ext cx="384048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91440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" y="9144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SKILL UP — Build AI Engineering skills, not just data skills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8686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891B2"/>
                </a:solidFill>
              </a:rPr>
              <a:t>$71,580/yr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0" y="11887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CBD5E1"/>
                </a:solidFill>
              </a:rPr>
              <a:t>gap: ML Eng vs Analytics</a:t>
            </a:r>
            <a:endParaRPr lang="en-US" sz="800" b="1" dirty="0"/>
          </a:p>
        </p:txBody>
      </p:sp>
      <p:sp>
        <p:nvSpPr>
          <p:cNvPr id="13" name="Shape 11"/>
          <p:cNvSpPr/>
          <p:nvPr/>
        </p:nvSpPr>
        <p:spPr>
          <a:xfrm>
            <a:off x="658368" y="1389888"/>
            <a:ext cx="585216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38988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Immediate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280160" y="1389888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Learn PyTorch + model deployment → closes the $71K gap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1389888"/>
            <a:ext cx="585216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38988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90-day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005072" y="138988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Deploy one real AI project on GitHub — evidence over certifications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08192" y="1389888"/>
            <a:ext cx="585216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138988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6-month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729984" y="1389888"/>
            <a:ext cx="2066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Upskill Analytics workers into MLOps — bridge Tier 3→Tier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" y="17739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Impact: </a:t>
            </a:r>
            <a:r>
              <a:rPr lang="en-US" sz="1000" dirty="0">
                <a:solidFill>
                  <a:srgbClr val="CBD5E1"/>
                </a:solidFill>
              </a:rPr>
              <a:t>AI Engineer grew +1,624% (45→776 listings) — demand is real and accelerating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249424"/>
            <a:ext cx="8385048" cy="1298448"/>
          </a:xfrm>
          <a:prstGeom prst="rect">
            <a:avLst/>
          </a:prstGeom>
          <a:solidFill>
            <a:srgbClr val="0C2340"/>
          </a:solidFill>
          <a:ln w="1905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2240280"/>
            <a:ext cx="45720" cy="12984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2331720"/>
            <a:ext cx="384048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23317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" y="23317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 MEDIUM — Medium companies pay more AND have 97.8% of all jobs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2860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59669"/>
                </a:solidFill>
              </a:rPr>
              <a:t>$10,829/yr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400800" y="26060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CBD5E1"/>
                </a:solidFill>
              </a:rPr>
              <a:t>Medium premium over Large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8368" y="2807208"/>
            <a:ext cx="585216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80720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Job Search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280160" y="280720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Filter to 50-500 employees — where 37,790 of 38,272 AI jobs are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2807208"/>
            <a:ext cx="585216" cy="182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280720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HR Strategy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005072" y="280720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Medium pays more: $151,715 vs $140,887 — this only shows in clean 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08192" y="2807208"/>
            <a:ext cx="585216" cy="1828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280720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Policy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729984" y="2807208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National skills-matching platforms: connect graduates to medium-company openings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8368" y="3182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Impact: </a:t>
            </a:r>
            <a:r>
              <a:rPr lang="en-US" sz="1000" dirty="0">
                <a:solidFill>
                  <a:srgbClr val="CBD5E1"/>
                </a:solidFill>
              </a:rPr>
              <a:t>For every 1 Big Tech application → send 10 medium company applications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3664634"/>
            <a:ext cx="8366760" cy="1298448"/>
          </a:xfrm>
          <a:prstGeom prst="rect">
            <a:avLst/>
          </a:prstGeom>
          <a:solidFill>
            <a:srgbClr val="0C2340"/>
          </a:solidFill>
          <a:ln w="19050">
            <a:solidFill>
              <a:srgbClr val="D9770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1" name="Shape 39"/>
          <p:cNvSpPr/>
          <p:nvPr/>
        </p:nvSpPr>
        <p:spPr>
          <a:xfrm>
            <a:off x="502920" y="3657600"/>
            <a:ext cx="45720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" y="3749040"/>
            <a:ext cx="384048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74904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5568" y="374904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MOVE EARLY — Emerging regions still have open opportunity windows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3703320"/>
            <a:ext cx="239572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200" b="1" dirty="0">
                <a:solidFill>
                  <a:schemeClr val="accent2">
                    <a:lumMod val="75000"/>
                  </a:schemeClr>
                </a:solidFill>
              </a:rPr>
              <a:t>36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2720</a:t>
            </a:r>
            <a:endParaRPr lang="en-US" sz="2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6400800" y="402336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CBD5E1"/>
                </a:solidFill>
              </a:rPr>
              <a:t>Canada AI Job  growth 2022→2025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8368" y="4224528"/>
            <a:ext cx="585216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422452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Individual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280160" y="4224528"/>
            <a:ext cx="20665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Apply to Canada/Australia — English, growth phase, below-US salaries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383280" y="4224528"/>
            <a:ext cx="585216" cy="1828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83280" y="422452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Institution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005072" y="4224528"/>
            <a:ext cx="20665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Build reskilling programs for 25-40 age group in emerging AI hubs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08192" y="4224528"/>
            <a:ext cx="585216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8192" y="422452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Government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729984" y="4224528"/>
            <a:ext cx="20665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Measure domestic AI fill rate — track % of AI jobs taken by local talent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8368" y="4530852"/>
            <a:ext cx="82296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Impact: </a:t>
            </a:r>
            <a:r>
              <a:rPr lang="en-US" sz="1000" dirty="0">
                <a:solidFill>
                  <a:srgbClr val="CBD5E1"/>
                </a:solidFill>
              </a:rPr>
              <a:t>Canada +7,456% · Australia +2,910% · UK +1,717% — windows open, not forever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Assumptions &amp; 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D3EE"/>
                </a:solidFill>
              </a:rPr>
              <a:t>Honest analysis names its constraints — every limitation here strengthens the credibility of what we did say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4133088" cy="2926080"/>
          </a:xfrm>
          <a:prstGeom prst="rect">
            <a:avLst/>
          </a:prstGeom>
          <a:solidFill>
            <a:srgbClr val="0C2340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804672"/>
            <a:ext cx="45720" cy="2926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859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87171"/>
                </a:solidFill>
              </a:rPr>
              <a:t>LIMITATIONS — WHAT WE CANNOT CLAIM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1338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▸  </a:t>
            </a:r>
            <a:r>
              <a:rPr lang="en-US" sz="900" b="1" dirty="0">
                <a:solidFill>
                  <a:srgbClr val="FFFFFF"/>
                </a:solidFill>
              </a:rPr>
              <a:t>No Skills Column  </a:t>
            </a:r>
            <a:r>
              <a:rPr lang="en-US" sz="900" dirty="0">
                <a:solidFill>
                  <a:srgbClr val="CBD5E1"/>
                </a:solidFill>
              </a:rPr>
              <a:t>Skills inferred from job titles and salary premium — not direct keyword extraction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5453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▸  </a:t>
            </a:r>
            <a:r>
              <a:rPr lang="en-US" sz="900" b="1" dirty="0">
                <a:solidFill>
                  <a:srgbClr val="FFFFFF"/>
                </a:solidFill>
              </a:rPr>
              <a:t>83.8% US Data  </a:t>
            </a:r>
            <a:r>
              <a:rPr lang="en-US" sz="900" dirty="0">
                <a:solidFill>
                  <a:srgbClr val="CBD5E1"/>
                </a:solidFill>
              </a:rPr>
              <a:t>Western platform bias — ai-jobs.net, Payscale, ZipRecruiter are English-language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956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▸  </a:t>
            </a:r>
            <a:r>
              <a:rPr lang="en-US" sz="900" b="1" dirty="0">
                <a:solidFill>
                  <a:srgbClr val="FFFFFF"/>
                </a:solidFill>
              </a:rPr>
              <a:t>India Underrepresented  </a:t>
            </a:r>
            <a:r>
              <a:rPr lang="en-US" sz="900" dirty="0">
                <a:solidFill>
                  <a:srgbClr val="CBD5E1"/>
                </a:solidFill>
              </a:rPr>
              <a:t>Massive tech workforce but minimal representation in this dataset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3682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▸  </a:t>
            </a:r>
            <a:r>
              <a:rPr lang="en-US" sz="900" b="1" dirty="0">
                <a:solidFill>
                  <a:srgbClr val="FFFFFF"/>
                </a:solidFill>
              </a:rPr>
              <a:t>2025 is Partial  </a:t>
            </a:r>
            <a:r>
              <a:rPr lang="en-US" sz="900" dirty="0">
                <a:solidFill>
                  <a:srgbClr val="CBD5E1"/>
                </a:solidFill>
              </a:rPr>
              <a:t>Only ~5 months. All 2025 claims use monthly rate, not raw count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7797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▸  </a:t>
            </a:r>
            <a:r>
              <a:rPr lang="en-US" sz="900" b="1" dirty="0">
                <a:solidFill>
                  <a:srgbClr val="FFFFFF"/>
                </a:solidFill>
              </a:rPr>
              <a:t>No Industry Tags  </a:t>
            </a:r>
            <a:r>
              <a:rPr lang="en-US" sz="900" dirty="0">
                <a:solidFill>
                  <a:srgbClr val="CBD5E1"/>
                </a:solidFill>
              </a:rPr>
              <a:t>No SIC/NAICS codes — industry proxy = company size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1912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▸  </a:t>
            </a:r>
            <a:r>
              <a:rPr lang="en-US" sz="900" b="1" dirty="0">
                <a:solidFill>
                  <a:srgbClr val="FFFFFF"/>
                </a:solidFill>
              </a:rPr>
              <a:t>Platform Bias  </a:t>
            </a:r>
            <a:r>
              <a:rPr lang="en-US" sz="900" dirty="0">
                <a:solidFill>
                  <a:srgbClr val="CBD5E1"/>
                </a:solidFill>
              </a:rPr>
              <a:t>Job boards may overrepresent certain salary ranges and company types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73168" y="804672"/>
            <a:ext cx="4133088" cy="2926080"/>
          </a:xfrm>
          <a:prstGeom prst="rect">
            <a:avLst/>
          </a:prstGeom>
          <a:solidFill>
            <a:srgbClr val="0C2340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804672"/>
            <a:ext cx="45720" cy="2926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859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CD34D"/>
                </a:solidFill>
              </a:rPr>
              <a:t>ASSUMPTIONS — WHAT WE ACCEPTED AS TRUE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19472" y="11338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06"/>
                </a:solidFill>
              </a:rPr>
              <a:t>▸  </a:t>
            </a:r>
            <a:r>
              <a:rPr lang="en-US" sz="900" b="1" dirty="0">
                <a:solidFill>
                  <a:srgbClr val="FFFFFF"/>
                </a:solidFill>
              </a:rPr>
              <a:t>Job title = skill signal  </a:t>
            </a:r>
            <a:r>
              <a:rPr lang="en-US" sz="900" dirty="0">
                <a:solidFill>
                  <a:srgbClr val="CBD5E1"/>
                </a:solidFill>
              </a:rPr>
              <a:t>Title accurately reflects required technical skills for that role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19472" y="15453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06"/>
                </a:solidFill>
              </a:rPr>
              <a:t>▸  </a:t>
            </a:r>
            <a:r>
              <a:rPr lang="en-US" sz="900" b="1" dirty="0">
                <a:solidFill>
                  <a:srgbClr val="FFFFFF"/>
                </a:solidFill>
              </a:rPr>
              <a:t>Company size = industry proxy  </a:t>
            </a:r>
            <a:r>
              <a:rPr lang="en-US" sz="900" dirty="0">
                <a:solidFill>
                  <a:srgbClr val="CBD5E1"/>
                </a:solidFill>
              </a:rPr>
              <a:t>Growth-stage companies = tech/health/fintech AI adoption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19472" y="1956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06"/>
                </a:solidFill>
              </a:rPr>
              <a:t>▸  </a:t>
            </a:r>
            <a:r>
              <a:rPr lang="en-US" sz="900" b="1" dirty="0">
                <a:solidFill>
                  <a:srgbClr val="FFFFFF"/>
                </a:solidFill>
              </a:rPr>
              <a:t>1 row = 1 unique job  </a:t>
            </a:r>
            <a:r>
              <a:rPr lang="en-US" sz="900" dirty="0">
                <a:solidFill>
                  <a:srgbClr val="CBD5E1"/>
                </a:solidFill>
              </a:rPr>
              <a:t>Post-dedup, each record is a distinct opportunity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19472" y="23682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06"/>
                </a:solidFill>
              </a:rPr>
              <a:t>▸  </a:t>
            </a:r>
            <a:r>
              <a:rPr lang="en-US" sz="900" b="1" dirty="0">
                <a:solidFill>
                  <a:srgbClr val="FFFFFF"/>
                </a:solidFill>
              </a:rPr>
              <a:t>USD conversion accurate  </a:t>
            </a:r>
            <a:r>
              <a:rPr lang="en-US" sz="900" dirty="0">
                <a:solidFill>
                  <a:srgbClr val="CBD5E1"/>
                </a:solidFill>
              </a:rPr>
              <a:t>Cross-currency salary comparisons are reliable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19472" y="27797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06"/>
                </a:solidFill>
              </a:rPr>
              <a:t>▸  </a:t>
            </a:r>
            <a:r>
              <a:rPr lang="en-US" sz="900" b="1" dirty="0">
                <a:solidFill>
                  <a:srgbClr val="FFFFFF"/>
                </a:solidFill>
              </a:rPr>
              <a:t>2022 = correct base year  </a:t>
            </a:r>
            <a:r>
              <a:rPr lang="en-US" sz="900" dirty="0">
                <a:solidFill>
                  <a:srgbClr val="CBD5E1"/>
                </a:solidFill>
              </a:rPr>
              <a:t>ChatGPT launch marks start of modern AI job market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19472" y="31912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06"/>
                </a:solidFill>
              </a:rPr>
              <a:t>▸  </a:t>
            </a:r>
            <a:r>
              <a:rPr lang="en-US" sz="900" b="1" dirty="0">
                <a:solidFill>
                  <a:srgbClr val="FFFFFF"/>
                </a:solidFill>
              </a:rPr>
              <a:t>2025 monthly rate valid  </a:t>
            </a:r>
            <a:r>
              <a:rPr lang="en-US" sz="900" dirty="0">
                <a:solidFill>
                  <a:srgbClr val="CBD5E1"/>
                </a:solidFill>
              </a:rPr>
              <a:t>5-month average is representative of full-year pace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822192"/>
            <a:ext cx="8366760" cy="658368"/>
          </a:xfrm>
          <a:prstGeom prst="rect">
            <a:avLst/>
          </a:prstGeom>
          <a:solidFill>
            <a:srgbClr val="0A1E35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822192"/>
            <a:ext cx="4572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</a:rPr>
              <a:t>✓  WHAT WE ARE CONFIDENT IN: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The directional findings are robust. The duplicate reversal is provable. The 5.1× multiplier is arithmetic. The skill salary hierarchy is real market pricing. The growth trends are real — only the 2025 absolute count needs the monthly-rate correction.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860036"/>
            <a:ext cx="8229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Dataset: ai-jobs.net · Payscale · ZipRecruiter  |  71,624 clean records  |  92 countries  |  2022–2025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633201"/>
            <a:ext cx="7772400" cy="3332988"/>
          </a:xfrm>
          <a:prstGeom prst="rect">
            <a:avLst/>
          </a:prstGeom>
          <a:solidFill>
            <a:srgbClr val="0C2340"/>
          </a:solidFill>
          <a:ln w="3175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621792"/>
            <a:ext cx="77724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621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400" b="1" dirty="0">
                <a:solidFill>
                  <a:srgbClr val="0891B2"/>
                </a:solidFill>
              </a:rPr>
              <a:t>“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097280" y="987551"/>
            <a:ext cx="6949440" cy="537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In 2022, if you wanted an AI job, you needed to be an AI specialist.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425436"/>
            <a:ext cx="6949440" cy="30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By 2025, AI had created an entire ecosystem around itself 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643655"/>
            <a:ext cx="6949440" cy="40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Software Engineers, Architects, Analysts, Leaders 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851660"/>
            <a:ext cx="6949440" cy="54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all pulled in by AI demand.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2339837"/>
            <a:ext cx="68580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249424"/>
            <a:ext cx="6949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D3EE"/>
                </a:solidFill>
              </a:rPr>
              <a:t>For every 1 Core AI job created between 2022 and 2025,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97280" y="2542032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891B2"/>
                </a:solidFill>
              </a:rPr>
              <a:t>5.1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2148840" y="2615184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</a:rPr>
              <a:t>supporting technology jobs</a:t>
            </a:r>
            <a:endParaRPr lang="en-US" sz="1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</a:rPr>
              <a:t>appeared alongside it.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138160" y="3035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891B2"/>
                </a:solidFill>
              </a:rPr>
              <a:t>”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14400" y="374904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011680" y="3749040"/>
            <a:ext cx="128016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374904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45152" y="3749040"/>
            <a:ext cx="128016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81344" y="374904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78624" y="3749040"/>
            <a:ext cx="128016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7280" y="4229100"/>
            <a:ext cx="69494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22D3EE"/>
                </a:solidFill>
              </a:rPr>
              <a:t>AI is not the end of tech careers.  It is the beginning of a much larger one.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1536</Words>
  <Application>Microsoft Office PowerPoint</Application>
  <PresentationFormat>On-screen Show (16:9)</PresentationFormat>
  <Paragraphs>233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AI Job Market Trends</dc:title>
  <dc:subject>PptxGenJS Presentation</dc:subject>
  <dc:creator>PptxGenJS</dc:creator>
  <cp:lastModifiedBy>sudip kumar jena</cp:lastModifiedBy>
  <cp:revision>5</cp:revision>
  <dcterms:created xsi:type="dcterms:W3CDTF">2026-03-17T23:29:58Z</dcterms:created>
  <dcterms:modified xsi:type="dcterms:W3CDTF">2026-03-18T06:18:03Z</dcterms:modified>
</cp:coreProperties>
</file>